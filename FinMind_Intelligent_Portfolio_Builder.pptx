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6" r:id="rId3"/>
    <p:sldId id="257" r:id="rId4"/>
    <p:sldId id="258" r:id="rId5"/>
    <p:sldId id="269" r:id="rId6"/>
    <p:sldId id="259" r:id="rId7"/>
    <p:sldId id="260" r:id="rId8"/>
    <p:sldId id="261" r:id="rId9"/>
    <p:sldId id="270" r:id="rId10"/>
    <p:sldId id="262" r:id="rId11"/>
    <p:sldId id="264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7" d="100"/>
          <a:sy n="87" d="100"/>
        </p:scale>
        <p:origin x="133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webp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48000"/>
            <a:lum/>
          </a:blip>
          <a:srcRect/>
          <a:stretch>
            <a:fillRect l="-21000" r="-2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48163"/>
            <a:ext cx="7772400" cy="1470025"/>
          </a:xfrm>
        </p:spPr>
        <p:txBody>
          <a:bodyPr/>
          <a:lstStyle/>
          <a:p>
            <a:r>
              <a:rPr dirty="0"/>
              <a:t>FinMind: Intelligent Portfolio Builder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44091"/>
            <a:ext cx="6400800" cy="1752600"/>
          </a:xfrm>
        </p:spPr>
        <p:txBody>
          <a:bodyPr/>
          <a:lstStyle/>
          <a:p>
            <a:r>
              <a:rPr dirty="0"/>
              <a:t>AI-Powered NIFTY-500 Stock Selection using ANOVA + Random Forest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817E8-D9A8-4C9E-0D59-4C0655723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Members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8F298-1FDA-10CD-D76B-0B4971D1E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Pratyush De – RA2512052010010</a:t>
            </a:r>
          </a:p>
          <a:p>
            <a:pPr marL="514350" indent="-514350">
              <a:buAutoNum type="arabicPeriod"/>
            </a:pPr>
            <a:r>
              <a:rPr lang="en-US" dirty="0"/>
              <a:t>Anirban Mondal – RA2512039010002</a:t>
            </a:r>
          </a:p>
          <a:p>
            <a:pPr marL="514350" indent="-514350">
              <a:buAutoNum type="arabicPeriod"/>
            </a:pPr>
            <a:r>
              <a:rPr lang="en-US" dirty="0"/>
              <a:t>Subhanil Bhaduri – RA2512039010007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4939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latin typeface="Calibri"/>
              </a:defRPr>
            </a:pPr>
            <a:r>
              <a:t>FinMind is an AI-based portfolio builder for NIFTY-500 stocks.</a:t>
            </a:r>
          </a:p>
          <a:p>
            <a:pPr>
              <a:defRPr sz="2000">
                <a:latin typeface="Calibri"/>
              </a:defRPr>
            </a:pPr>
            <a:r>
              <a:t>It predicts top-performing stocks using 1-year price data and technical indicators.</a:t>
            </a:r>
          </a:p>
          <a:p>
            <a:pPr>
              <a:defRPr sz="2000">
                <a:latin typeface="Calibri"/>
              </a:defRPr>
            </a:pPr>
            <a:r>
              <a:t>Combines ANOVA feature selection with Random Forest classification.</a:t>
            </a:r>
          </a:p>
          <a:p>
            <a:pPr>
              <a:defRPr sz="2000">
                <a:latin typeface="Calibri"/>
              </a:defRPr>
            </a:pPr>
            <a:r>
              <a:t>Builds and visualizes a Top-15 portfolio with optimized allocation.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>
                <a:latin typeface="Calibri"/>
              </a:defRPr>
            </a:pPr>
            <a:r>
              <a:rPr dirty="0"/>
              <a:t>1️⃣ NIFTY-500 Company List – https://archives.nseindia.com/content/indices/ind_nifty500list.csv</a:t>
            </a:r>
          </a:p>
          <a:p>
            <a:pPr>
              <a:defRPr sz="2000">
                <a:latin typeface="Calibri"/>
              </a:defRPr>
            </a:pPr>
            <a:r>
              <a:rPr dirty="0"/>
              <a:t>2️⃣ Historical Stock Data – Yahoo Finance API (via </a:t>
            </a:r>
            <a:r>
              <a:rPr dirty="0" err="1"/>
              <a:t>yfinance</a:t>
            </a:r>
            <a:r>
              <a:rPr dirty="0"/>
              <a:t> Python package)</a:t>
            </a:r>
          </a:p>
          <a:p>
            <a:pPr>
              <a:defRPr sz="2000">
                <a:latin typeface="Calibri"/>
              </a:defRPr>
            </a:pPr>
            <a:r>
              <a:rPr dirty="0"/>
              <a:t>Data Collected: 1 Year (</a:t>
            </a:r>
            <a:r>
              <a:rPr lang="en-US" dirty="0"/>
              <a:t>Real-Time</a:t>
            </a:r>
            <a:r>
              <a:rPr dirty="0"/>
              <a:t>)</a:t>
            </a:r>
          </a:p>
          <a:p>
            <a:pPr>
              <a:defRPr sz="2000">
                <a:latin typeface="Calibri"/>
              </a:defRPr>
            </a:pPr>
            <a:r>
              <a:rPr dirty="0"/>
              <a:t>Includes: Open, High, Low, Close, Volume, Adjusted Close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42C3ABE-825F-90FB-F1ED-C5FF60241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" y="1"/>
            <a:ext cx="9129713" cy="6857999"/>
          </a:xfrm>
          <a:prstGeom prst="rect">
            <a:avLst/>
          </a:prstGeom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0B58AFC5-C6EE-2240-9C54-D87B26A79D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311" y="2632364"/>
            <a:ext cx="4666962" cy="2770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6406D3CB-99BE-87F8-486D-4F83FB1BD0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9099" y="2373744"/>
            <a:ext cx="3231027" cy="3028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4219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latin typeface="Calibri"/>
              </a:defRPr>
            </a:pPr>
            <a:r>
              <a:t>🔹 Model: ANOVA + Random Forest Classifier</a:t>
            </a:r>
          </a:p>
          <a:p>
            <a:pPr>
              <a:defRPr sz="2000">
                <a:latin typeface="Calibri"/>
              </a:defRPr>
            </a:pPr>
            <a:r>
              <a:t>🔹 Feature Selection: ANOVA (SelectKBest)</a:t>
            </a:r>
          </a:p>
          <a:p>
            <a:pPr>
              <a:defRPr sz="2000">
                <a:latin typeface="Calibri"/>
              </a:defRPr>
            </a:pPr>
            <a:r>
              <a:t>🔹 Features: Daily &amp; Weekly Returns, Moving Averages, Volatility, RSI</a:t>
            </a:r>
          </a:p>
          <a:p>
            <a:pPr>
              <a:defRPr sz="2000">
                <a:latin typeface="Calibri"/>
              </a:defRPr>
            </a:pPr>
            <a:r>
              <a:t>🔹 Target: Binary label predicting 5-day future price gain</a:t>
            </a:r>
          </a:p>
          <a:p>
            <a:pPr>
              <a:defRPr sz="2000">
                <a:latin typeface="Calibri"/>
              </a:defRPr>
            </a:pPr>
            <a:r>
              <a:t>🔹 Validation: 80-20 Train-Test Split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Justification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latin typeface="Calibri"/>
              </a:defRPr>
            </a:pPr>
            <a:r>
              <a:t>✅ ANOVA: Selects the most statistically significant features.</a:t>
            </a:r>
          </a:p>
          <a:p>
            <a:pPr>
              <a:defRPr sz="2000">
                <a:latin typeface="Calibri"/>
              </a:defRPr>
            </a:pPr>
            <a:r>
              <a:t>✅ Random Forest: Handles noisy financial data and prevents overfitting.</a:t>
            </a:r>
          </a:p>
          <a:p>
            <a:pPr>
              <a:defRPr sz="2000">
                <a:latin typeface="Calibri"/>
              </a:defRPr>
            </a:pPr>
            <a:r>
              <a:t>✅ Ensemble Learning improves prediction robustness.</a:t>
            </a:r>
          </a:p>
          <a:p>
            <a:pPr>
              <a:defRPr sz="2000">
                <a:latin typeface="Calibri"/>
              </a:defRPr>
            </a:pPr>
            <a:r>
              <a:t>✅ Interpretable and computationally efficient for large datasets.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Work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05456"/>
            <a:ext cx="8229600" cy="4525963"/>
          </a:xfrm>
        </p:spPr>
        <p:txBody>
          <a:bodyPr/>
          <a:lstStyle/>
          <a:p>
            <a:endParaRPr dirty="0"/>
          </a:p>
          <a:p>
            <a:pPr>
              <a:defRPr sz="2000">
                <a:latin typeface="Calibri"/>
              </a:defRPr>
            </a:pPr>
            <a:r>
              <a:rPr dirty="0"/>
              <a:t>1️⃣ Fetch NIFTY-500 tickers from NSE</a:t>
            </a:r>
          </a:p>
          <a:p>
            <a:pPr>
              <a:defRPr sz="2000">
                <a:latin typeface="Calibri"/>
              </a:defRPr>
            </a:pPr>
            <a:r>
              <a:rPr dirty="0"/>
              <a:t>2️⃣ Validate tickers on Yahoo Finance</a:t>
            </a:r>
          </a:p>
          <a:p>
            <a:pPr>
              <a:defRPr sz="2000">
                <a:latin typeface="Calibri"/>
              </a:defRPr>
            </a:pPr>
            <a:r>
              <a:rPr dirty="0"/>
              <a:t>3️⃣ Download 1-year stock data</a:t>
            </a:r>
          </a:p>
          <a:p>
            <a:pPr>
              <a:defRPr sz="2000">
                <a:latin typeface="Calibri"/>
              </a:defRPr>
            </a:pPr>
            <a:r>
              <a:rPr dirty="0"/>
              <a:t>4️⃣ Perform Feature Engineering (Returns, MA, RSI, etc.)</a:t>
            </a:r>
          </a:p>
          <a:p>
            <a:pPr>
              <a:defRPr sz="2000">
                <a:latin typeface="Calibri"/>
              </a:defRPr>
            </a:pPr>
            <a:r>
              <a:rPr dirty="0"/>
              <a:t>5️⃣ Apply ANOVA for feature selection</a:t>
            </a:r>
          </a:p>
          <a:p>
            <a:pPr>
              <a:defRPr sz="2000">
                <a:latin typeface="Calibri"/>
              </a:defRPr>
            </a:pPr>
            <a:r>
              <a:rPr dirty="0"/>
              <a:t>6️⃣ Train Random Forest model</a:t>
            </a:r>
          </a:p>
          <a:p>
            <a:pPr>
              <a:defRPr sz="2000">
                <a:latin typeface="Calibri"/>
              </a:defRPr>
            </a:pPr>
            <a:r>
              <a:rPr dirty="0"/>
              <a:t>7️⃣ Score all stocks and rank them</a:t>
            </a:r>
          </a:p>
          <a:p>
            <a:pPr>
              <a:defRPr sz="2000">
                <a:latin typeface="Calibri"/>
              </a:defRPr>
            </a:pPr>
            <a:r>
              <a:rPr dirty="0"/>
              <a:t>8️⃣ Build Top-15 portfolio and visualize 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DAF4FA-B3BA-053F-68C3-A5ED10726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123" y="4225458"/>
            <a:ext cx="8027377" cy="25358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A55AC-141C-44A0-8935-A277DA625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Diagram</a:t>
            </a:r>
            <a:endParaRPr lang="en-IN" dirty="0"/>
          </a:p>
        </p:txBody>
      </p:sp>
      <p:pic>
        <p:nvPicPr>
          <p:cNvPr id="1026" name="Picture 2" descr="FinMind Intelligent Portfolio Builder architecture diagram including data, model, allocation, and dashboard.">
            <a:extLst>
              <a:ext uri="{FF2B5EF4-FFF2-40B4-BE49-F238E27FC236}">
                <a16:creationId xmlns:a16="http://schemas.microsoft.com/office/drawing/2014/main" id="{DD2649ED-D9BB-FE1E-9BA7-2702FDEFE0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6046" y="1248508"/>
            <a:ext cx="5609492" cy="5222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3574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latin typeface="Calibri"/>
              </a:defRPr>
            </a:pPr>
            <a:r>
              <a:t>📈 Identify Top-15 performing NIFTY-500 stocks.</a:t>
            </a:r>
          </a:p>
          <a:p>
            <a:pPr>
              <a:defRPr sz="2000">
                <a:latin typeface="Calibri"/>
              </a:defRPr>
            </a:pPr>
            <a:r>
              <a:t>💼 Generate portfolio allocation with optimized weights.</a:t>
            </a:r>
          </a:p>
          <a:p>
            <a:pPr>
              <a:defRPr sz="2000">
                <a:latin typeface="Calibri"/>
              </a:defRPr>
            </a:pPr>
            <a:r>
              <a:t>📊 Visualize score distribution, stock ranking, and investment weights.</a:t>
            </a:r>
          </a:p>
          <a:p>
            <a:pPr>
              <a:defRPr sz="2000">
                <a:latin typeface="Calibri"/>
              </a:defRPr>
            </a:pPr>
            <a:r>
              <a:t>⚙️ Save trained model for reuse in Google Drive.</a:t>
            </a:r>
          </a:p>
          <a:p>
            <a:pPr>
              <a:defRPr sz="2000">
                <a:latin typeface="Calibri"/>
              </a:defRPr>
            </a:pPr>
            <a:r>
              <a:t>🎯 Expected metrics: Accuracy ~80%, F1-Score ~0.78, ROC-AUC ~0.85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6D995DF-72EB-5E5B-355F-18B534EC39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277488"/>
            <a:ext cx="8055864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M. Ł.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Szydłowski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J. A.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Chudziak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“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Hidformer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Transformer-Style Neural Network in Stock Price Forecasting,” 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arXiv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preprint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arXiv:2412.19932, Dec. 2024.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Y. Wang and S. Guo, “RVRAE: A Dynamic Factor Model Based on Variational Recurrent Autoencoder for Stock Returns Prediction,” 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arXiv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preprint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arXiv:2403.02500, Mar. 2024.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H. Ni, S. Meng, X. Chen et al., “Harnessing Earnings Reports for Stock Predictions: 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QLoRA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-Enhanced LLM Approach,” 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arXiv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preprint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arXiv:2408.06634, Aug. 2024.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V. Lanzetta, “Transfer learning for financial data predictions: a systematic review,” 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arXiv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preprint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arXiv:2409.17183, Sep. 2024.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M. Hanauer, “Better by design: Why human choices matter for return predictions via machine learning,”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Robeco Research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Dec. 2024.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>
                <a:latin typeface="Calibri"/>
              </a:defRPr>
            </a:pPr>
            <a:r>
              <a:rPr dirty="0"/>
              <a:t>FinMind demonstrates how AI can automate intelligent portfolio construction.</a:t>
            </a:r>
          </a:p>
          <a:p>
            <a:pPr>
              <a:defRPr sz="2000">
                <a:latin typeface="Calibri"/>
              </a:defRPr>
            </a:pPr>
            <a:r>
              <a:rPr dirty="0"/>
              <a:t>Combining feature selection and ensemble learning enables robust stock prediction.</a:t>
            </a:r>
          </a:p>
          <a:p>
            <a:pPr>
              <a:defRPr sz="2000">
                <a:latin typeface="Calibri"/>
              </a:defRPr>
            </a:pPr>
            <a:r>
              <a:rPr dirty="0"/>
              <a:t>The model helps investors make data-driven investment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523</Words>
  <Application>Microsoft Office PowerPoint</Application>
  <PresentationFormat>On-screen Show (4:3)</PresentationFormat>
  <Paragraphs>64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FinMind: Intelligent Portfolio Builder</vt:lpstr>
      <vt:lpstr>Team Members</vt:lpstr>
      <vt:lpstr>Project Overview</vt:lpstr>
      <vt:lpstr>Dataset Sources</vt:lpstr>
      <vt:lpstr>PowerPoint Presentation</vt:lpstr>
      <vt:lpstr>Model Planning</vt:lpstr>
      <vt:lpstr>Model Justification</vt:lpstr>
      <vt:lpstr>Proposed Work Architecture</vt:lpstr>
      <vt:lpstr>Architecture Diagram</vt:lpstr>
      <vt:lpstr>Expected Results</vt:lpstr>
      <vt:lpstr>References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Pratyush De</cp:lastModifiedBy>
  <cp:revision>5</cp:revision>
  <dcterms:created xsi:type="dcterms:W3CDTF">2013-01-27T09:14:16Z</dcterms:created>
  <dcterms:modified xsi:type="dcterms:W3CDTF">2025-10-29T04:55:08Z</dcterms:modified>
  <cp:category/>
</cp:coreProperties>
</file>